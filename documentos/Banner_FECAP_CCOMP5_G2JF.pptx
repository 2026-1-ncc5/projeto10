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0625" cx="28800425"/>
  <p:notesSz cx="6858000" cy="9144000"/>
  <p:embeddedFontLst>
    <p:embeddedFont>
      <p:font typeface="Open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hDo55wqvbrRUXzvv0M4MCxi+Qy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66" orient="horz"/>
        <p:guide pos="54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OpenSans-regular.fntdata"/><Relationship Id="rId8" Type="http://schemas.openxmlformats.org/officeDocument/2006/relationships/font" Target="fonts/Open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b="1" sz="7623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indent="-567436" lvl="1" marL="9144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indent="-519049" lvl="2" marL="1371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indent="-470599" lvl="3" marL="1828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indent="-470598" lvl="4" marL="22860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indent="-470598" lvl="5" marL="2743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indent="-470598" lvl="6" marL="3200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indent="-470598" lvl="7" marL="3657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indent="-470598" lvl="8" marL="4114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b="0" i="0" sz="83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marR="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b="0" i="0" sz="60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67436" lvl="1" marL="9144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b="0" i="0" sz="53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19049" lvl="2" marL="1371600" marR="0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b="0" i="0" sz="45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70599" lvl="3" marL="1828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70598" lvl="4" marL="22860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70598" lvl="5" marL="27432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70598" lvl="6" marL="32004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70598" lvl="7" marL="36576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70598" lvl="8" marL="4114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2.png"/><Relationship Id="rId11" Type="http://schemas.openxmlformats.org/officeDocument/2006/relationships/image" Target="../media/image3.png"/><Relationship Id="rId10" Type="http://schemas.openxmlformats.org/officeDocument/2006/relationships/image" Target="../media/image4.png"/><Relationship Id="rId13" Type="http://schemas.openxmlformats.org/officeDocument/2006/relationships/image" Target="../media/image15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hyperlink" Target="https://docs.ultralytics.com/" TargetMode="External"/><Relationship Id="rId15" Type="http://schemas.openxmlformats.org/officeDocument/2006/relationships/image" Target="../media/image6.png"/><Relationship Id="rId14" Type="http://schemas.openxmlformats.org/officeDocument/2006/relationships/image" Target="../media/image8.png"/><Relationship Id="rId17" Type="http://schemas.openxmlformats.org/officeDocument/2006/relationships/image" Target="../media/image2.png"/><Relationship Id="rId16" Type="http://schemas.openxmlformats.org/officeDocument/2006/relationships/image" Target="../media/image10.png"/><Relationship Id="rId5" Type="http://schemas.openxmlformats.org/officeDocument/2006/relationships/image" Target="../media/image7.png"/><Relationship Id="rId19" Type="http://schemas.openxmlformats.org/officeDocument/2006/relationships/image" Target="../media/image14.png"/><Relationship Id="rId6" Type="http://schemas.openxmlformats.org/officeDocument/2006/relationships/image" Target="../media/image11.png"/><Relationship Id="rId18" Type="http://schemas.openxmlformats.org/officeDocument/2006/relationships/image" Target="../media/image5.png"/><Relationship Id="rId7" Type="http://schemas.openxmlformats.org/officeDocument/2006/relationships/hyperlink" Target="https://fastapi.tiangolo.com/" TargetMode="External"/><Relationship Id="rId8" Type="http://schemas.openxmlformats.org/officeDocument/2006/relationships/hyperlink" Target="https://www.google.com/search?q=https://docs.opencv.org/4.x/d6/d00/tutorial_py_root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4F3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rect b="b" l="l" r="r" t="t"/>
              <a:pathLst>
                <a:path extrusionOk="0" h="607578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1" sz="3430"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rect b="b" l="l" r="r" t="t"/>
              <a:pathLst>
                <a:path extrusionOk="0" h="870076" w="3163653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l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rect b="b" l="l" r="r" t="t"/>
              <a:pathLst>
                <a:path extrusionOk="0" h="841941" w="3225442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3962" cy="8372957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rect b="b" l="l" r="r" t="t"/>
              <a:pathLst>
                <a:path extrusionOk="0" h="739677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rect b="b" l="l" r="r" t="t"/>
              <a:pathLst>
                <a:path extrusionOk="0" h="819899" w="3218728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rect b="b" l="l" r="r" t="t"/>
              <a:pathLst>
                <a:path extrusionOk="0" h="803341" w="2755436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84394" y="13184455"/>
            <a:ext cx="20464108" cy="13034121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rect b="b" l="l" r="r" t="t"/>
              <a:pathLst>
                <a:path extrusionOk="0" h="1176995" w="1922704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0" cy="12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75" y="30011223"/>
            <a:ext cx="13848535" cy="8125824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rect b="b" l="l" r="r" t="t"/>
              <a:pathLst>
                <a:path extrusionOk="0" h="820732" w="1302166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03300" y="30139595"/>
            <a:ext cx="12527635" cy="8125921"/>
            <a:chOff x="-4" y="-314091"/>
            <a:chExt cx="8764874" cy="5686041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-4" y="-314091"/>
              <a:ext cx="8764874" cy="5686041"/>
              <a:chOff x="-1" y="-47627"/>
              <a:chExt cx="1329057" cy="862200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rect b="b" l="l" r="r" t="t"/>
                <a:pathLst>
                  <a:path extrusionOk="0" h="814469" w="1329056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-1" y="-47627"/>
                <a:ext cx="1329000" cy="86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6800" lIns="96800" spcFirstLastPara="1" rIns="96800" wrap="square" tIns="96800">
                <a:noAutofit/>
              </a:bodyPr>
              <a:lstStyle/>
              <a:p>
                <a:pPr indent="0" lvl="0" marL="0" marR="0" rtl="0" algn="ctr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7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62"/>
                <a:buFont typeface="Arial"/>
                <a:buNone/>
              </a:pPr>
              <a:r>
                <a:rPr b="1" i="0" lang="en-US" sz="4762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rect b="b" l="l" r="r" t="t"/>
            <a:pathLst>
              <a:path extrusionOk="0" h="1287851" w="4497722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rect b="b" l="l" r="r" t="t"/>
            <a:pathLst>
              <a:path extrusionOk="0" h="1225321" w="3793089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7"/>
              <a:buFont typeface="Arial"/>
              <a:buNone/>
            </a:pPr>
            <a:r>
              <a:rPr b="1" i="0" lang="en-US" sz="507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958980" cy="1301139"/>
            </a:xfrm>
            <a:custGeom>
              <a:rect b="b" l="l" r="r" t="t"/>
              <a:pathLst>
                <a:path extrusionOk="0" h="1301139" w="95898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2" name="Google Shape;122;p1"/>
            <p:cNvSpPr/>
            <p:nvPr/>
          </p:nvSpPr>
          <p:spPr>
            <a:xfrm>
              <a:off x="0" y="0"/>
              <a:ext cx="936167" cy="1301139"/>
            </a:xfrm>
            <a:custGeom>
              <a:rect b="b" l="l" r="r" t="t"/>
              <a:pathLst>
                <a:path extrusionOk="0" h="1301139" w="936167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/>
          <p:nvPr/>
        </p:nvSpPr>
        <p:spPr>
          <a:xfrm>
            <a:off x="22527251" y="36801439"/>
            <a:ext cx="5609093" cy="5642282"/>
          </a:xfrm>
          <a:custGeom>
            <a:rect b="b" l="l" r="r" t="t"/>
            <a:pathLst>
              <a:path extrusionOk="0" h="2960783" w="2943367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-1" y="4700167"/>
            <a:ext cx="288138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4"/>
              <a:buFont typeface="Arial"/>
              <a:buNone/>
            </a:pPr>
            <a:r>
              <a:rPr b="1" i="0" lang="en-US" sz="1143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PROJETO: </a:t>
            </a:r>
            <a:r>
              <a:rPr b="1" lang="en-US" sz="11434">
                <a:latin typeface="Open Sans"/>
                <a:ea typeface="Open Sans"/>
                <a:cs typeface="Open Sans"/>
                <a:sym typeface="Open Sans"/>
              </a:rPr>
              <a:t>LIDERANÇAS EMPÁTICAS G2JF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2404768" y="6355587"/>
            <a:ext cx="24286200" cy="16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Felipe Vallim</a:t>
            </a: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Guilhermy Garcia</a:t>
            </a: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 Gustavo Demetrio e</a:t>
            </a: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Saulo Pereira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2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Orientadores: </a:t>
            </a:r>
            <a:r>
              <a:rPr lang="en-US" sz="4262">
                <a:latin typeface="Open Sans"/>
                <a:ea typeface="Open Sans"/>
                <a:cs typeface="Open Sans"/>
                <a:sym typeface="Open Sans"/>
              </a:rPr>
              <a:t>Rodnil Lisboa</a:t>
            </a:r>
            <a:r>
              <a:rPr b="0" i="0" lang="en-US" sz="42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4262">
                <a:latin typeface="Open Sans"/>
                <a:ea typeface="Open Sans"/>
                <a:cs typeface="Open Sans"/>
                <a:sym typeface="Open Sans"/>
              </a:rPr>
              <a:t>Victor Quiroz</a:t>
            </a:r>
            <a:r>
              <a:rPr b="0" i="0" lang="en-US" sz="42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n-US" sz="4262">
                <a:latin typeface="Open Sans"/>
                <a:ea typeface="Open Sans"/>
                <a:cs typeface="Open Sans"/>
                <a:sym typeface="Open Sans"/>
              </a:rPr>
              <a:t> Rafael Rosseti</a:t>
            </a:r>
            <a:r>
              <a:rPr b="0" i="0" lang="en-US" sz="42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4262">
                <a:latin typeface="Open Sans"/>
                <a:ea typeface="Open Sans"/>
                <a:cs typeface="Open Sans"/>
                <a:sym typeface="Open Sans"/>
              </a:rPr>
              <a:t>Marcos Minoru e Rodrigo da Rosa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15966975" y="31719851"/>
            <a:ext cx="11400000" cy="68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FASTAPI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. Documentação FastAPI. Disponível em: &lt;</a:t>
            </a:r>
            <a:r>
              <a:rPr lang="en-US" sz="343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7"/>
              </a:rPr>
              <a:t>https://fastapi.tiangolo.com/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&gt;. Acesso em: 10 maio 2026.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OPENCV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. OpenCV Python Tutorials. Disponível em: &lt;</a:t>
            </a:r>
            <a:r>
              <a:rPr lang="en-US" sz="343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8"/>
              </a:rPr>
              <a:t>https://docs.opencv.org/4.x/d6/d00/tutorial_py_root.html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&gt;. Acesso em: 10 maio 2026.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ULTRALYTICS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. Documentação do YOLOv8 - Ultralytics. Disponível em: &lt;</a:t>
            </a:r>
            <a:r>
              <a:rPr lang="en-US" sz="343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9"/>
              </a:rPr>
              <a:t>https://docs.ultralytics.com/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&gt;. Acesso em: 10 maio 2026.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1645563" y="32089600"/>
            <a:ext cx="12562800" cy="1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Back-end, Nuvem e Banco de Dados:</a:t>
            </a:r>
            <a:endParaRPr b="1"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1595875" y="10749175"/>
            <a:ext cx="12562800" cy="86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Gargalo Operacional: 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 contagem manual das doações (arroz, feijão e outros itens) é um processo lento e suscetível a erros humanos, dificultando o fechamento do inventário e a logística do projeto Lideranças Empáticas. 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Desafio de Rastreabilidade: 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Há uma dificuldade inerente em auditar os dados cruzando o que é reportado pelas equipes com o volume físico real arrecadado, gerando possíveis inconsistências nos relatórios finais. 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Falta de Visibilidade em Tempo Real: 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 ausência de ferramentas que 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centralizam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 as métricas de arrecadação impede um acompanhamento dinâmico do desempenho das equipes, limitando o engajamento dos funcionários.</a:t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1570066" y="21125709"/>
            <a:ext cx="12562800" cy="86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Plataforma Web Inteligente: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 Desenvolvimento do sistema "Lideranças Empáticas G2JF", digitalizando o processo de coleta e auditoria do fluxo de doações.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Auditoria por Visão Computacional: 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Implementação de um modelo de Inteligência Artificial capaz de detectar e classificar os pacotes de alimentos, validando de forma automatizada o peso e a quantidade dos itens registrados pelos operadores. 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Gestão o</a:t>
            </a: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rienta</a:t>
            </a: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da</a:t>
            </a: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 a dados: 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Criação de dashboards interativos (Panorama) para análise de distribuição de categorias ao longo do tempo, aliados a um sistema de Ranking, criando uma competição saudável e transparente entre as equipes.</a:t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1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 SEMANA FECAP DE TECNOLOGIA - 2026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0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5749391" y="10749167"/>
            <a:ext cx="11904300" cy="83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Métricas Consolidadas: 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O sistema processou e validou com êxito toda a arrecadação (peso total e valor financeiro estimado), classificando automaticamente os itens de maior volume e evidenciando as categorias de alimentos mais doadas.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Eficiência: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 A solução comprovou sua viabilidade técnica e financeira ao operar perfeitamente via web utilizando webcams comuns. Viabilizando a automação da logística para ONGs e  demais projetos sociais.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743964" y="25548885"/>
            <a:ext cx="116520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749400" y="17919750"/>
            <a:ext cx="11799825" cy="575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5749400" y="23790688"/>
            <a:ext cx="11904301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"/>
          <p:cNvSpPr txBox="1"/>
          <p:nvPr/>
        </p:nvSpPr>
        <p:spPr>
          <a:xfrm>
            <a:off x="15484943" y="28800378"/>
            <a:ext cx="124332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Fonte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: Autoria própria (2026)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570075" y="32748875"/>
            <a:ext cx="1864312" cy="186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651950" y="32930772"/>
            <a:ext cx="1682400" cy="168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551925" y="32930775"/>
            <a:ext cx="1562100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331597" y="32930772"/>
            <a:ext cx="1562100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9231575" y="32906038"/>
            <a:ext cx="1562100" cy="161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1131550" y="32748875"/>
            <a:ext cx="1562100" cy="173188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"/>
          <p:cNvSpPr txBox="1"/>
          <p:nvPr/>
        </p:nvSpPr>
        <p:spPr>
          <a:xfrm>
            <a:off x="1373225" y="34931163"/>
            <a:ext cx="12562800" cy="20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Front-end e Interface:</a:t>
            </a:r>
            <a:endParaRPr b="1"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1" sz="343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8" name="Google Shape;148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570072" y="35689000"/>
            <a:ext cx="1864300" cy="1660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869525" y="35678113"/>
            <a:ext cx="1682400" cy="168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987073" y="35689275"/>
            <a:ext cx="1682400" cy="1660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